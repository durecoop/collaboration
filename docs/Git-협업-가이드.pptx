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🤝 같이 개발하는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8D2FF"/>
                </a:solidFill>
              </a:defRPr>
            </a:pPr>
            <a:r>
              <a:t>Commit · Push · Pull 쉽게 이해하기</a:t>
            </a:r>
          </a:p>
        </p:txBody>
      </p:sp>
      <p:sp>
        <p:nvSpPr>
          <p:cNvPr id="4" name="Oval 3"/>
          <p:cNvSpPr/>
          <p:nvPr/>
        </p:nvSpPr>
        <p:spPr>
          <a:xfrm>
            <a:off x="4114800" y="4114800"/>
            <a:ext cx="1097280" cy="1097280"/>
          </a:xfrm>
          <a:prstGeom prst="ellipse">
            <a:avLst/>
          </a:prstGeom>
          <a:solidFill>
            <a:srgbClr val="5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지</a:t>
            </a:r>
          </a:p>
        </p:txBody>
      </p:sp>
      <p:sp>
        <p:nvSpPr>
          <p:cNvPr id="5" name="Oval 4"/>
          <p:cNvSpPr/>
          <p:nvPr/>
        </p:nvSpPr>
        <p:spPr>
          <a:xfrm>
            <a:off x="5760720" y="4114800"/>
            <a:ext cx="1097280" cy="109728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소</a:t>
            </a:r>
          </a:p>
        </p:txBody>
      </p:sp>
      <p:sp>
        <p:nvSpPr>
          <p:cNvPr id="6" name="Oval 5"/>
          <p:cNvSpPr/>
          <p:nvPr/>
        </p:nvSpPr>
        <p:spPr>
          <a:xfrm>
            <a:off x="7406640" y="4114800"/>
            <a:ext cx="1097280" cy="109728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2FF"/>
                </a:solidFill>
              </a:defRPr>
            </a:pPr>
            <a:r>
              <a:t>초등학생도 이해할 수 있는 Git 협업 가이드 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🤔 같이 개발한다는 게 뭐야?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학교에서 비유하면...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📓  반 공용 노트가 있어요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✏️  각자 자기 파트를 써요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📤  다 쓰면 노트에 끼워 넣어요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📥  다른 친구가 쓴 것도 볼 수 있어요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</a:defRPr>
            </a:pPr>
            <a:r>
              <a:t>개발에서는...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📓  GitHub = 공용 노트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✏️  각자 컴퓨터에서 코드 작성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📤  Push = 노트에 끼워 넣기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📥  Pull = 친구가 쓴 거 가져오기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📋 전체 흐름을 한 그림으로 보면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4754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💻 내 컴퓨터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51760" cy="9144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① 코드 작성</a:t>
            </a:r>
            <a:br/>
            <a:r>
              <a:t>파일을 수정해요</a:t>
            </a:r>
          </a:p>
        </p:txBody>
      </p:sp>
      <p:sp>
        <p:nvSpPr>
          <p:cNvPr id="6" name="Down Arrow 5"/>
          <p:cNvSpPr/>
          <p:nvPr/>
        </p:nvSpPr>
        <p:spPr>
          <a:xfrm>
            <a:off x="1737360" y="3200400"/>
            <a:ext cx="457200" cy="54864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65176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② Commit</a:t>
            </a:r>
            <a:br/>
            <a:r>
              <a:t>"저장" 버튼 누르기</a:t>
            </a:r>
          </a:p>
        </p:txBody>
      </p:sp>
      <p:sp>
        <p:nvSpPr>
          <p:cNvPr id="8" name="Down Arrow 7"/>
          <p:cNvSpPr/>
          <p:nvPr/>
        </p:nvSpPr>
        <p:spPr>
          <a:xfrm>
            <a:off x="1737360" y="4846320"/>
            <a:ext cx="457200" cy="54864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2651760" cy="6400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③ Push → 올리기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5577840"/>
            <a:ext cx="731520" cy="4572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2743200" cy="4754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</a:defRPr>
            </a:pPr>
            <a:r>
              <a:t>☁️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(인터넷 저장소)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43200"/>
            <a:ext cx="2194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📁 CLAUDE.md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📁 README.md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📁 docs/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📁 src/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999999"/>
                </a:solidFill>
              </a:defRPr>
            </a:pPr>
            <a:r>
              <a:t>모든 파일이</a:t>
            </a:r>
          </a:p>
          <a:p>
            <a:pPr>
              <a:spcAft>
                <a:spcPts val="600"/>
              </a:spcAft>
              <a:defRPr sz="1300" b="0">
                <a:solidFill>
                  <a:srgbClr val="999999"/>
                </a:solidFill>
              </a:defRPr>
            </a:pPr>
            <a:r>
              <a:t>여기에 보관돼요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680960" y="5577840"/>
            <a:ext cx="731520" cy="457200"/>
          </a:xfrm>
          <a:prstGeom prst="lef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371600"/>
            <a:ext cx="3200400" cy="4754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💻 팀원 컴퓨터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94560"/>
            <a:ext cx="265176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④ Pull ← 받기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875520" y="2926080"/>
            <a:ext cx="457200" cy="54864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3566160"/>
            <a:ext cx="2651760" cy="9144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⑤ 코드 작성</a:t>
            </a:r>
            <a:br/>
            <a:r>
              <a:t>자기 파트 수정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875520" y="4572000"/>
            <a:ext cx="457200" cy="548640"/>
          </a:xfrm>
          <a:prstGeom prst="down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5212080"/>
            <a:ext cx="265176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⑥ Commit + Push</a:t>
            </a:r>
            <a:br/>
            <a:r>
              <a:t>저장하고 올리기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💾 Commit = 내 컴퓨터에 저장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1828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33333"/>
                </a:solidFill>
              </a:defRPr>
            </a:pPr>
            <a:r>
              <a:t>게임에서 "세이브" 하는 거랑 똑같아요!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게임 중간중간 세이브하면 죽어도 그 지점부터 다시 하잖아요?</a:t>
            </a: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코드도 중간중간 Commit(저장)하면 잘못되어도 돌아갈 수 있어요!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Commit 할 때 메모를 남겨요 (뭘 했는지 적기)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0" cy="59436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26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📝  "로그인 화면 만들었음"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999999"/>
                </a:solidFill>
              </a:defRPr>
            </a:pPr>
            <a:r>
              <a:t>지원 · 오늘 오전 10시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166360"/>
            <a:ext cx="9144000" cy="59436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212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📝  "할 일 목록 디자인 수정"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212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999999"/>
                </a:solidFill>
              </a:defRPr>
            </a:pPr>
            <a:r>
              <a:t>소영 · 오늘 오후 2시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852160"/>
            <a:ext cx="9144000" cy="5943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897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📝  "마감일 기능 추가"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897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999999"/>
                </a:solidFill>
              </a:defRPr>
            </a:pPr>
            <a:r>
              <a:t>슬기 · 오늘 오후 4시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⚠️ Commit은 내 컴퓨터에만 저장! 아직 팀원은 못 봐요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📤 Push = GitHub에 올리기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18288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33333"/>
                </a:solidFill>
              </a:defRPr>
            </a:pPr>
            <a:r>
              <a:t>카톡 단체방에 사진 올리는 거랑 비슷해요!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내가 찍은 사진(=코드)을 단체방(=GitHub)에 올리면</a:t>
            </a: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다른 친구들도 볼 수 있게 되는 거예요!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3200400" cy="2286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💻 내 컴퓨터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663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commit 한 내용들: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로그인 화면 완성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버튼 색상 변경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4572000"/>
            <a:ext cx="1645920" cy="9144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Push!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931920"/>
            <a:ext cx="4114800" cy="2286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023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☁️ GitHub (인터넷)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올라온 내용: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로그인 화면 완성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버튼 색상 변경</a:t>
            </a:r>
          </a:p>
          <a:p>
            <a:pPr>
              <a:spcAft>
                <a:spcPts val="600"/>
              </a:spcAft>
              <a:defRPr sz="1500" b="1">
                <a:solidFill>
                  <a:srgbClr val="667EEA"/>
                </a:solidFill>
              </a:defRPr>
            </a:pPr>
            <a:r>
              <a:t>→ 팀원 모두 볼 수 있음!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📥 Pull = 팀원 작업 받아오기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1828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33333"/>
                </a:solidFill>
              </a:defRPr>
            </a:pPr>
            <a:r>
              <a:t>카톡 단체방에 새 사진 와서 다운 받는 거랑 같아요!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친구가 올린 사진(=코드)을 내 폰(=컴퓨터)에 받으면</a:t>
            </a: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최신 상태로 업데이트되는 거예요!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3657600" cy="2286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☁️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새로 올라온 것: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🆕 소영: 디자인 수정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🆕 슬기: 마감일 기능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03520" y="4572000"/>
            <a:ext cx="1645920" cy="9144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Pull!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931920"/>
            <a:ext cx="4114800" cy="2286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4023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💻 내 컴퓨터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받아온 결과: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내 코드 + 소영 코드 + 슬기 코드</a:t>
            </a:r>
          </a:p>
          <a:p>
            <a:pPr>
              <a:spcAft>
                <a:spcPts val="600"/>
              </a:spcAft>
              <a:defRPr sz="1500" b="1">
                <a:solidFill>
                  <a:srgbClr val="22C55E"/>
                </a:solidFill>
              </a:defRPr>
            </a:pPr>
            <a:r>
              <a:t>→ 전부 합쳐진 최신 상태!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⏰ 매일 이렇게 하면 돼요!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📥 Pull 받기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시작할 때 팀원이 한 거 받아오기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3017520"/>
            <a:ext cx="731520" cy="4572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32004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828800"/>
            <a:ext cx="731520" cy="7315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✏️ 코드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내가 맡은 부분 작업하기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3017520"/>
            <a:ext cx="731520" cy="4572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560320" cy="3200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82880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</a:defRPr>
            </a:pPr>
            <a:r>
              <a:t>💾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내 컴퓨터에 저장하기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61120" y="3017520"/>
            <a:ext cx="731520" cy="4572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18288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</a:defRPr>
            </a:pPr>
            <a:r>
              <a:t>📤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GitHub에 올려서 팀원과 공유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12080"/>
            <a:ext cx="10058400" cy="11887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667EEA"/>
                </a:solidFill>
              </a:defRPr>
            </a:pPr>
            <a:r>
              <a:t>💡 Claude에게 말로 시키면 돼요!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   "pull 해줘" → "커밋하고 푸시해줘" 이 두 마디면 끝!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💥 충돌! 같은 부분을 고치면?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3716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  <a:r>
              <a:t>지원이가 1번줄을 "사과"로 바꾸고, 소영이도 1번줄을 "바나나"로 바꿨어요</a:t>
            </a:r>
          </a:p>
          <a:p>
            <a:pPr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둘 다 Push 하면... 컴퓨터가 헷갈려요! 뭘 쓸지 모르니까요 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해결 방법: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3474720" cy="2286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1. 예방하기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서로 다른 파일을 작업해요</a:t>
            </a:r>
            <a:br/>
            <a:r>
              <a:t>"나는 로그인, 너는 디자인"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2. 브랜치 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각자 복사본에서 작업하고</a:t>
            </a:r>
            <a:br/>
            <a:r>
              <a:t>나중에 합쳐요 (다음 장에서!)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931920"/>
            <a:ext cx="3474720" cy="2286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3. Claude한테 맡기기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"충돌 해결해줘" 하면</a:t>
            </a:r>
            <a:br/>
            <a:r>
              <a:t>Claude가 알아서 정리!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🌿 브랜치 = 각자 연습장에서 작업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시험지에 바로 쓰면 지우기 어렵잖아요?</a:t>
            </a:r>
          </a:p>
          <a:p>
            <a:pPr>
              <a:spcAft>
                <a:spcPts val="600"/>
              </a:spcAft>
              <a:defRPr sz="2000" b="0">
                <a:solidFill>
                  <a:srgbClr val="999999"/>
                </a:solidFill>
              </a:defRPr>
            </a:pPr>
            <a:r>
              <a:t>연습장(브랜치)에서 먼저 쓰고, 잘 됐으면 시험지(main)에 옮기는 거예요!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0058400" cy="5486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main (완성본)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017520"/>
            <a:ext cx="4572000" cy="457200"/>
          </a:xfrm>
          <a:prstGeom prst="roundRect">
            <a:avLst/>
          </a:prstGeom>
          <a:solidFill>
            <a:srgbClr val="5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지원: 로그인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3108960"/>
            <a:ext cx="274320" cy="274320"/>
          </a:xfrm>
          <a:prstGeom prst="ellipse">
            <a:avLst/>
          </a:prstGeom>
          <a:solidFill>
            <a:srgbClr val="5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498079" y="3063240"/>
            <a:ext cx="548640" cy="365760"/>
          </a:xfrm>
          <a:prstGeom prst="rightArrow">
            <a:avLst/>
          </a:prstGeom>
          <a:solidFill>
            <a:srgbClr val="5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4114800"/>
            <a:ext cx="4572000" cy="45720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소영: 디자인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4206240"/>
            <a:ext cx="274320" cy="27432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4160520"/>
            <a:ext cx="548640" cy="365760"/>
          </a:xfrm>
          <a:prstGeom prst="rightArrow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5212080"/>
            <a:ext cx="4572000" cy="45720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슬기: 마감일기능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5303520"/>
            <a:ext cx="274320" cy="2743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98079" y="5257800"/>
            <a:ext cx="548640" cy="365760"/>
          </a:xfrm>
          <a:prstGeom prst="rightArrow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3474720"/>
            <a:ext cx="2743200" cy="2560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657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2C55E"/>
                </a:solidFill>
              </a:defRPr>
            </a:pPr>
            <a:r>
              <a:t>✅ 다 되면</a:t>
            </a:r>
          </a:p>
          <a:p>
            <a:pPr>
              <a:spcAft>
                <a:spcPts val="600"/>
              </a:spcAft>
              <a:defRPr sz="1800" b="1">
                <a:solidFill>
                  <a:srgbClr val="22C55E"/>
                </a:solidFill>
              </a:defRPr>
            </a:pPr>
            <a:r>
              <a:t>main에 합쳐요!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이걸 Merge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라고 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💡 Claude에게: "브랜치 만들어줘" → 작업 → "main에 머지해줘"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🗣️ Claude에게 이렇게 말하세요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</a:defRPr>
            </a:pPr>
            <a:r>
              <a:t>어려운 명령어 외울 필요 없어요. 그냥 말하면 돼요!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시작할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"pull 해줘"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최신 코드 받아옴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10515600" cy="6400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작업 끝나면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529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"커밋하고 푸시해줘"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529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저장하고 올림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1051560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02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뭐 바뀌었는지 보려면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027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"최근 변경사항 보여줘"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027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팀원 작업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61104"/>
            <a:ext cx="10515600" cy="640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525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내 브랜치 만들려면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3525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"브랜치 만들어줘"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5254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연습장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10912"/>
            <a:ext cx="1051560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02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완성해서 합치려면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1023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"main에 머지해줘"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023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완성본에 합침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19"/>
            <a:ext cx="10515600" cy="6400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충돌 났을 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8521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"충돌 해결해줘"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8521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→ 알아서 정리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📝 3줄 정리!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13716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💾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내 컴퓨터에 저장하기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</a:defRPr>
            </a:pPr>
            <a:r>
              <a:t>"게임 세이브 같은 거"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0058400" cy="13716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📤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GitHub에 올리기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</a:defRPr>
            </a:pPr>
            <a:r>
              <a:t>"카톡에 사진 올리는 거"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0058400" cy="13716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📥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팀원 작업 받아오기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</a:defRPr>
            </a:pPr>
            <a:r>
              <a:t>"카톡에서 사진 다운 받는 거"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이제 같이 만들어 봐요!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D2FF"/>
                </a:solidFill>
              </a:defRPr>
            </a:pPr>
            <a:r>
              <a:t>Pull → 작업 → Commit → Push</a:t>
            </a:r>
            <a:br/>
            <a:r>
              <a:t>이것만 기억하면 돼요!</a:t>
            </a:r>
          </a:p>
        </p:txBody>
      </p:sp>
      <p:sp>
        <p:nvSpPr>
          <p:cNvPr id="4" name="Oval 3"/>
          <p:cNvSpPr/>
          <p:nvPr/>
        </p:nvSpPr>
        <p:spPr>
          <a:xfrm>
            <a:off x="4114800" y="4754880"/>
            <a:ext cx="1097280" cy="1097280"/>
          </a:xfrm>
          <a:prstGeom prst="ellipse">
            <a:avLst/>
          </a:prstGeom>
          <a:solidFill>
            <a:srgbClr val="5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지</a:t>
            </a:r>
          </a:p>
        </p:txBody>
      </p:sp>
      <p:sp>
        <p:nvSpPr>
          <p:cNvPr id="5" name="Oval 4"/>
          <p:cNvSpPr/>
          <p:nvPr/>
        </p:nvSpPr>
        <p:spPr>
          <a:xfrm>
            <a:off x="5760720" y="4754880"/>
            <a:ext cx="1097280" cy="109728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소</a:t>
            </a:r>
          </a:p>
        </p:txBody>
      </p:sp>
      <p:sp>
        <p:nvSpPr>
          <p:cNvPr id="6" name="Oval 5"/>
          <p:cNvSpPr/>
          <p:nvPr/>
        </p:nvSpPr>
        <p:spPr>
          <a:xfrm>
            <a:off x="7406640" y="4754880"/>
            <a:ext cx="1097280" cy="109728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